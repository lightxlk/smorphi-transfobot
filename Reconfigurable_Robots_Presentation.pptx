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8288000" cy="10287000"/>
  <p:notesSz cx="6858000" cy="9144000"/>
  <p:embeddedFontLst>
    <p:embeddedFont>
      <p:font typeface="Absolutely Sharp " panose="020B0604020202020204" charset="-128"/>
      <p:regular r:id="rId16"/>
    </p:embeddedFont>
    <p:embeddedFont>
      <p:font typeface="Abundant Harvest" panose="020B0604020202020204" charset="-128"/>
      <p:regular r:id="rId17"/>
    </p:embeddedFon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Versaille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868" y="48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78A91-4647-4BDB-9B26-0D06D561567F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9FE70-FD18-4D6C-9AE7-A6EEF09F3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18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19014" y="329927"/>
            <a:ext cx="5157020" cy="2148984"/>
          </a:xfrm>
          <a:custGeom>
            <a:avLst/>
            <a:gdLst/>
            <a:ahLst/>
            <a:cxnLst/>
            <a:rect l="l" t="t" r="r" b="b"/>
            <a:pathLst>
              <a:path w="5157020" h="2148984">
                <a:moveTo>
                  <a:pt x="0" y="0"/>
                </a:moveTo>
                <a:lnTo>
                  <a:pt x="5157020" y="0"/>
                </a:lnTo>
                <a:lnTo>
                  <a:pt x="5157020" y="2148984"/>
                </a:lnTo>
                <a:lnTo>
                  <a:pt x="0" y="2148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>
            <a:off x="572448" y="329927"/>
            <a:ext cx="5343910" cy="2148984"/>
          </a:xfrm>
          <a:custGeom>
            <a:avLst/>
            <a:gdLst/>
            <a:ahLst/>
            <a:cxnLst/>
            <a:rect l="l" t="t" r="r" b="b"/>
            <a:pathLst>
              <a:path w="5343910" h="2148984">
                <a:moveTo>
                  <a:pt x="0" y="0"/>
                </a:moveTo>
                <a:lnTo>
                  <a:pt x="5343911" y="0"/>
                </a:lnTo>
                <a:lnTo>
                  <a:pt x="5343911" y="2148984"/>
                </a:lnTo>
                <a:lnTo>
                  <a:pt x="0" y="2148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13" t="-18032" b="-23943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6228296" y="5531260"/>
            <a:ext cx="6039904" cy="481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1"/>
              </a:lnSpc>
              <a:spcBef>
                <a:spcPct val="0"/>
              </a:spcBef>
            </a:pPr>
            <a:r>
              <a:rPr lang="en-US" sz="3384" b="1" dirty="0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Reconfigurable Robot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25500" y="3435760"/>
            <a:ext cx="8437001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1"/>
              </a:lnSpc>
              <a:spcBef>
                <a:spcPct val="0"/>
              </a:spcBef>
            </a:pPr>
            <a:r>
              <a:rPr lang="en-US" sz="6884" b="1" dirty="0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SMORPHI² </a:t>
            </a:r>
            <a:r>
              <a:rPr lang="en-US" sz="6884" b="1" dirty="0" err="1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TransfoBot</a:t>
            </a:r>
            <a:endParaRPr lang="en-US" sz="6884" b="1" dirty="0">
              <a:solidFill>
                <a:srgbClr val="000000"/>
              </a:solidFill>
              <a:latin typeface="Versailles"/>
              <a:ea typeface="Versailles"/>
              <a:cs typeface="Versailles"/>
              <a:sym typeface="Versailles"/>
            </a:endParaRPr>
          </a:p>
        </p:txBody>
      </p:sp>
      <p:pic>
        <p:nvPicPr>
          <p:cNvPr id="1026" name="Picture 2" descr="HOME | Wefaa">
            <a:extLst>
              <a:ext uri="{FF2B5EF4-FFF2-40B4-BE49-F238E27FC236}">
                <a16:creationId xmlns:a16="http://schemas.microsoft.com/office/drawing/2014/main" id="{63EC612F-DD52-6CAE-5B14-B98EAC818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9200" y="483532"/>
            <a:ext cx="5312807" cy="184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916998-2806-E4E1-5E0C-FFA1F903E7AC}"/>
              </a:ext>
            </a:extLst>
          </p:cNvPr>
          <p:cNvSpPr txBox="1"/>
          <p:nvPr/>
        </p:nvSpPr>
        <p:spPr>
          <a:xfrm>
            <a:off x="454938" y="2634170"/>
            <a:ext cx="5578929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700" b="1" i="0" u="none" strike="noStrike" baseline="0" dirty="0">
                <a:solidFill>
                  <a:srgbClr val="001F5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SUTD Invested </a:t>
            </a:r>
            <a:r>
              <a:rPr lang="en-US" sz="3700" b="1" dirty="0">
                <a:solidFill>
                  <a:srgbClr val="001F5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sz="3700" b="1" i="0" u="none" strike="noStrike" baseline="0" dirty="0">
                <a:solidFill>
                  <a:srgbClr val="001F5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enture</a:t>
            </a:r>
            <a:endParaRPr lang="en-US" sz="3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97FB1-ED1E-ABD4-FD08-A312D584B7E5}"/>
              </a:ext>
            </a:extLst>
          </p:cNvPr>
          <p:cNvSpPr txBox="1"/>
          <p:nvPr/>
        </p:nvSpPr>
        <p:spPr>
          <a:xfrm>
            <a:off x="-54690" y="8488858"/>
            <a:ext cx="1835500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600" b="1" i="0" u="none" strike="noStrike" baseline="0" dirty="0">
              <a:solidFill>
                <a:srgbClr val="000000"/>
              </a:solidFill>
              <a:latin typeface="Batang" panose="02030600000101010101" pitchFamily="18" charset="-127"/>
            </a:endParaRPr>
          </a:p>
          <a:p>
            <a:pPr algn="ctr"/>
            <a:r>
              <a:rPr lang="en-US" sz="1600" b="1" i="0" u="none" strike="noStrike" baseline="0" dirty="0">
                <a:solidFill>
                  <a:srgbClr val="000000"/>
                </a:solidFill>
                <a:latin typeface="Batang" panose="02030600000101010101" pitchFamily="18" charset="-127"/>
              </a:rPr>
              <a:t> </a:t>
            </a:r>
            <a:r>
              <a:rPr lang="en-US" sz="4400" b="1" i="0" u="none" strike="noStrike" baseline="0" dirty="0">
                <a:solidFill>
                  <a:srgbClr val="C00000"/>
                </a:solidFill>
                <a:latin typeface="Batang" panose="02030600000101010101" pitchFamily="18" charset="-127"/>
              </a:rPr>
              <a:t>Sri </a:t>
            </a:r>
            <a:r>
              <a:rPr lang="en-US" sz="4400" b="1" i="0" u="none" strike="noStrike" baseline="0" dirty="0" err="1">
                <a:solidFill>
                  <a:srgbClr val="C00000"/>
                </a:solidFill>
                <a:latin typeface="Batang" panose="02030600000101010101" pitchFamily="18" charset="-127"/>
              </a:rPr>
              <a:t>Sri</a:t>
            </a:r>
            <a:r>
              <a:rPr lang="en-US" sz="4400" b="1" i="0" u="none" strike="noStrike" baseline="0" dirty="0">
                <a:solidFill>
                  <a:srgbClr val="C00000"/>
                </a:solidFill>
                <a:latin typeface="Batang" panose="02030600000101010101" pitchFamily="18" charset="-127"/>
              </a:rPr>
              <a:t> Center for Robotic &amp; Automation</a:t>
            </a:r>
            <a:endParaRPr lang="en-US" sz="4400" b="1" i="0" u="none" strike="noStrike" baseline="0" dirty="0">
              <a:solidFill>
                <a:srgbClr val="000000"/>
              </a:solidFill>
              <a:latin typeface="Batang" panose="02030600000101010101" pitchFamily="18" charset="-127"/>
            </a:endParaRPr>
          </a:p>
          <a:p>
            <a:pPr algn="ctr"/>
            <a:r>
              <a:rPr lang="en-US" sz="4400" b="1" i="0" u="none" strike="noStrike" baseline="0" dirty="0">
                <a:solidFill>
                  <a:srgbClr val="000000"/>
                </a:solidFill>
                <a:latin typeface="Batang" panose="02030600000101010101" pitchFamily="18" charset="-127"/>
              </a:rPr>
              <a:t> </a:t>
            </a:r>
            <a:r>
              <a:rPr lang="en-US" sz="4400" b="1" i="0" u="none" strike="noStrike" baseline="0" dirty="0">
                <a:solidFill>
                  <a:srgbClr val="001F5F"/>
                </a:solidFill>
                <a:latin typeface="Batang" panose="02030600000101010101" pitchFamily="18" charset="-127"/>
              </a:rPr>
              <a:t>Faculty of Engineering &amp; Technology (FET)</a:t>
            </a:r>
            <a:endParaRPr lang="en-US" sz="4400" b="1" i="0" u="none" strike="noStrike" baseline="0" dirty="0">
              <a:solidFill>
                <a:srgbClr val="C00000"/>
              </a:solidFill>
              <a:latin typeface="Batang" panose="02030600000101010101" pitchFamily="18" charset="-12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DB43961-0F77-0032-213E-5ABC515ED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595" y="4573418"/>
            <a:ext cx="4067743" cy="36295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13017" y="1019175"/>
            <a:ext cx="406196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1"/>
              </a:lnSpc>
              <a:spcBef>
                <a:spcPct val="0"/>
              </a:spcBef>
            </a:pPr>
            <a:r>
              <a:rPr lang="en-US" sz="5401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~ Agenda ~</a:t>
            </a:r>
          </a:p>
        </p:txBody>
      </p:sp>
      <p:pic>
        <p:nvPicPr>
          <p:cNvPr id="2050" name="Picture 2" descr="Sri Sri University - The Best of East and the Best of West">
            <a:extLst>
              <a:ext uri="{FF2B5EF4-FFF2-40B4-BE49-F238E27FC236}">
                <a16:creationId xmlns:a16="http://schemas.microsoft.com/office/drawing/2014/main" id="{7D97F6E2-9B9E-E0C4-9FD8-26BCCBCBF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0" y="238050"/>
            <a:ext cx="3429000" cy="119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99296" y="1019175"/>
            <a:ext cx="8889407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9"/>
              </a:lnSpc>
              <a:spcBef>
                <a:spcPct val="0"/>
              </a:spcBef>
            </a:pPr>
            <a:r>
              <a:rPr lang="en-US" sz="6282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~ Introduction ~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64304" y="3324225"/>
            <a:ext cx="15159392" cy="181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9261" lvl="1" indent="-604630" algn="l">
              <a:lnSpc>
                <a:spcPts val="6721"/>
              </a:lnSpc>
              <a:spcBef>
                <a:spcPct val="0"/>
              </a:spcBef>
              <a:buFont typeface="Arial"/>
              <a:buChar char="•"/>
            </a:pPr>
            <a:r>
              <a:rPr lang="en-US" sz="5601">
                <a:solidFill>
                  <a:srgbClr val="000000"/>
                </a:solidFill>
                <a:latin typeface="Absolutely Sharp "/>
                <a:ea typeface="Absolutely Sharp "/>
                <a:cs typeface="Absolutely Sharp "/>
                <a:sym typeface="Absolutely Sharp "/>
              </a:rPr>
              <a:t>Brief overview of reconfigurable robotics</a:t>
            </a:r>
          </a:p>
          <a:p>
            <a:pPr marL="1209261" lvl="1" indent="-604630" algn="l">
              <a:lnSpc>
                <a:spcPts val="6721"/>
              </a:lnSpc>
              <a:spcBef>
                <a:spcPct val="0"/>
              </a:spcBef>
              <a:buFont typeface="Arial"/>
              <a:buChar char="•"/>
            </a:pPr>
            <a:r>
              <a:rPr lang="en-US" sz="5601">
                <a:solidFill>
                  <a:srgbClr val="000000"/>
                </a:solidFill>
                <a:latin typeface="Absolutely Sharp "/>
                <a:ea typeface="Absolutely Sharp "/>
                <a:cs typeface="Absolutely Sharp "/>
                <a:sym typeface="Absolutely Sharp "/>
              </a:rPr>
              <a:t>Importance in modern automation</a:t>
            </a:r>
          </a:p>
        </p:txBody>
      </p:sp>
      <p:pic>
        <p:nvPicPr>
          <p:cNvPr id="4" name="Picture 2" descr="Sri Sri University - The Best of East and the Best of West">
            <a:extLst>
              <a:ext uri="{FF2B5EF4-FFF2-40B4-BE49-F238E27FC236}">
                <a16:creationId xmlns:a16="http://schemas.microsoft.com/office/drawing/2014/main" id="{2C7795CB-8F43-E0BB-FEA6-C140F402E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0" y="238050"/>
            <a:ext cx="3429000" cy="119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48302" y="-88"/>
            <a:ext cx="8991396" cy="78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5093">
                <a:solidFill>
                  <a:srgbClr val="FFFFFF"/>
                </a:solidFill>
                <a:latin typeface="Versailles"/>
                <a:ea typeface="Versailles"/>
                <a:cs typeface="Versailles"/>
                <a:sym typeface="Versailles"/>
              </a:rPr>
              <a:t>~ Video Demonstration ~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89614" y="4900612"/>
            <a:ext cx="350877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bsolutely Sharp "/>
                <a:ea typeface="Absolutely Sharp "/>
                <a:cs typeface="Absolutely Sharp "/>
                <a:sym typeface="Absolutely Sharp "/>
              </a:rPr>
              <a:t>Insert Video from Local Storage</a:t>
            </a:r>
          </a:p>
        </p:txBody>
      </p:sp>
      <p:pic>
        <p:nvPicPr>
          <p:cNvPr id="4" name="Picture 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694703" y="781541"/>
            <a:ext cx="16898594" cy="95054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4584" y="1433512"/>
            <a:ext cx="1517883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21"/>
              </a:lnSpc>
              <a:spcBef>
                <a:spcPct val="0"/>
              </a:spcBef>
            </a:pPr>
            <a:r>
              <a:rPr lang="en-US" sz="7100" dirty="0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~ Hardware and Mechanism ~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299" y="3314700"/>
            <a:ext cx="16535400" cy="3436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09261" lvl="1" indent="-604630" algn="l">
              <a:lnSpc>
                <a:spcPts val="6721"/>
              </a:lnSpc>
              <a:spcBef>
                <a:spcPct val="0"/>
              </a:spcBef>
              <a:buFont typeface="Arial"/>
              <a:buChar char="•"/>
            </a:pPr>
            <a:r>
              <a:rPr lang="en-US" sz="5601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Modular Design Concept</a:t>
            </a:r>
          </a:p>
          <a:p>
            <a:pPr marL="1209261" lvl="1" indent="-604630" algn="l">
              <a:lnSpc>
                <a:spcPts val="6721"/>
              </a:lnSpc>
              <a:spcBef>
                <a:spcPct val="0"/>
              </a:spcBef>
              <a:buFont typeface="Arial"/>
              <a:buChar char="•"/>
            </a:pPr>
            <a:r>
              <a:rPr lang="en-US" sz="5601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Components List: Sensors, Actuators, Motors</a:t>
            </a:r>
          </a:p>
          <a:p>
            <a:pPr marL="1209261" lvl="1" indent="-604630" algn="l">
              <a:lnSpc>
                <a:spcPts val="6721"/>
              </a:lnSpc>
              <a:spcBef>
                <a:spcPct val="0"/>
              </a:spcBef>
              <a:buFont typeface="Arial"/>
              <a:buChar char="•"/>
            </a:pPr>
            <a:r>
              <a:rPr lang="en-US" sz="5601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Adaptive Chassis and Configurable Joints</a:t>
            </a:r>
          </a:p>
          <a:p>
            <a:pPr marL="1209261" lvl="1" indent="-604630" algn="l">
              <a:lnSpc>
                <a:spcPts val="6721"/>
              </a:lnSpc>
              <a:buFont typeface="Arial"/>
              <a:buChar char="•"/>
            </a:pPr>
            <a:r>
              <a:rPr lang="en-US" sz="5601" dirty="0" err="1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Mecanum</a:t>
            </a:r>
            <a:r>
              <a:rPr lang="en-US" sz="5601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 Wheels for Omnidirectional Movement</a:t>
            </a:r>
          </a:p>
        </p:txBody>
      </p:sp>
      <p:pic>
        <p:nvPicPr>
          <p:cNvPr id="4" name="Picture 2" descr="Sri Sri University - The Best of East and the Best of West">
            <a:extLst>
              <a:ext uri="{FF2B5EF4-FFF2-40B4-BE49-F238E27FC236}">
                <a16:creationId xmlns:a16="http://schemas.microsoft.com/office/drawing/2014/main" id="{59C42B7C-5A82-BDA1-CAFA-EE4D45768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0" y="238050"/>
            <a:ext cx="3429000" cy="119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5074" y="1028700"/>
            <a:ext cx="7426449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21"/>
              </a:lnSpc>
              <a:spcBef>
                <a:spcPct val="0"/>
              </a:spcBef>
            </a:pPr>
            <a:r>
              <a:rPr lang="en-US" sz="7100" dirty="0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~ Mechanism ~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2523718"/>
            <a:ext cx="16992599" cy="5988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49111" lvl="1" indent="-524555" algn="just">
              <a:lnSpc>
                <a:spcPts val="5831"/>
              </a:lnSpc>
              <a:buFont typeface="Arial"/>
              <a:buChar char="•"/>
            </a:pPr>
            <a:r>
              <a:rPr lang="en-US" sz="4859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Developed a robot capable of transforming into various shapes, including O, I, L, T, J, S, and Z.</a:t>
            </a:r>
          </a:p>
          <a:p>
            <a:pPr marL="1049111" lvl="1" indent="-524555" algn="just">
              <a:lnSpc>
                <a:spcPts val="5831"/>
              </a:lnSpc>
              <a:buFont typeface="Arial"/>
              <a:buChar char="•"/>
            </a:pPr>
            <a:r>
              <a:rPr lang="en-US" sz="4859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Integrated </a:t>
            </a:r>
            <a:r>
              <a:rPr lang="en-US" sz="4859" dirty="0" err="1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Mecanum</a:t>
            </a:r>
            <a:r>
              <a:rPr lang="en-US" sz="4859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 wheels for omnidirectional movement and a lock-latch mechanism for seamless shape transitions.</a:t>
            </a:r>
          </a:p>
          <a:p>
            <a:pPr marL="1049111" lvl="1" indent="-524555" algn="just">
              <a:lnSpc>
                <a:spcPts val="5831"/>
              </a:lnSpc>
              <a:buFont typeface="Arial"/>
              <a:buChar char="•"/>
            </a:pPr>
            <a:r>
              <a:rPr lang="en-US" sz="4859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Added advanced features like a sound sensor and a camera module, enabling the robot to detect sound and follow human actions.</a:t>
            </a:r>
          </a:p>
        </p:txBody>
      </p:sp>
      <p:pic>
        <p:nvPicPr>
          <p:cNvPr id="4" name="Picture 2" descr="Sri Sri University - The Best of East and the Best of West">
            <a:extLst>
              <a:ext uri="{FF2B5EF4-FFF2-40B4-BE49-F238E27FC236}">
                <a16:creationId xmlns:a16="http://schemas.microsoft.com/office/drawing/2014/main" id="{CD9AAFF0-2B6A-A94E-B631-0E38A68FD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0" y="238050"/>
            <a:ext cx="3429000" cy="119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27634" y="1028700"/>
            <a:ext cx="13632731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21"/>
              </a:lnSpc>
              <a:spcBef>
                <a:spcPct val="0"/>
              </a:spcBef>
            </a:pPr>
            <a:r>
              <a:rPr lang="en-US" sz="7100" dirty="0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~ How the Robot Works ~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499" y="2909392"/>
            <a:ext cx="16383000" cy="4787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3219" lvl="1" indent="-586610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5434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Reconfiguration Mechanism: Adaptive Modules</a:t>
            </a:r>
          </a:p>
          <a:p>
            <a:pPr marL="1173219" lvl="1" indent="-586610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5434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Real-time Processing and Decision Making</a:t>
            </a:r>
          </a:p>
          <a:p>
            <a:pPr marL="1173219" lvl="1" indent="-586610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5434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Control Algorithms and Motion Planning</a:t>
            </a:r>
          </a:p>
          <a:p>
            <a:pPr marL="1173219" lvl="1" indent="-586610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5434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Remote Control vs Autonomous Operation</a:t>
            </a:r>
          </a:p>
        </p:txBody>
      </p:sp>
      <p:pic>
        <p:nvPicPr>
          <p:cNvPr id="4" name="Picture 2" descr="Sri Sri University - The Best of East and the Best of West">
            <a:extLst>
              <a:ext uri="{FF2B5EF4-FFF2-40B4-BE49-F238E27FC236}">
                <a16:creationId xmlns:a16="http://schemas.microsoft.com/office/drawing/2014/main" id="{1F792FF4-0262-B9ED-0CAE-23EE99918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0" y="238050"/>
            <a:ext cx="3429000" cy="119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2596166"/>
            <a:ext cx="16916400" cy="5837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33587" lvl="1" indent="-566793" algn="just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5250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Hardware: ESP32 / Arduino, Li-Po Battery, Wi-Fi/Bluetooth, Ultrasonic Sensor</a:t>
            </a:r>
          </a:p>
          <a:p>
            <a:pPr marL="1133587" lvl="1" indent="-566793" algn="just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5250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Software: Arduino IDE, Compatible Compiler, GitHub Repository</a:t>
            </a:r>
          </a:p>
          <a:p>
            <a:pPr marL="1133587" lvl="1" indent="-566793" algn="just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5250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Integration: Seamless hardware-software interaction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64772" y="1019175"/>
            <a:ext cx="15358456" cy="79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5"/>
              </a:lnSpc>
              <a:spcBef>
                <a:spcPct val="0"/>
              </a:spcBef>
            </a:pPr>
            <a:r>
              <a:rPr lang="en-US" sz="5187" b="1" dirty="0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~ Hardware &amp; Software ~</a:t>
            </a:r>
          </a:p>
        </p:txBody>
      </p:sp>
      <p:pic>
        <p:nvPicPr>
          <p:cNvPr id="4" name="Picture 2" descr="Sri Sri University - The Best of East and the Best of West">
            <a:extLst>
              <a:ext uri="{FF2B5EF4-FFF2-40B4-BE49-F238E27FC236}">
                <a16:creationId xmlns:a16="http://schemas.microsoft.com/office/drawing/2014/main" id="{DD28C639-F593-615B-5C3F-DA1E002EC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0" y="238050"/>
            <a:ext cx="3429000" cy="119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600306" y="1562100"/>
            <a:ext cx="15087388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21"/>
              </a:lnSpc>
              <a:spcBef>
                <a:spcPct val="0"/>
              </a:spcBef>
            </a:pPr>
            <a:r>
              <a:rPr lang="en-US" sz="7100" dirty="0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~ Applications of Robotics ~</a:t>
            </a:r>
          </a:p>
        </p:txBody>
      </p:sp>
      <p:pic>
        <p:nvPicPr>
          <p:cNvPr id="4" name="Picture 2" descr="Sri Sri University - The Best of East and the Best of West">
            <a:extLst>
              <a:ext uri="{FF2B5EF4-FFF2-40B4-BE49-F238E27FC236}">
                <a16:creationId xmlns:a16="http://schemas.microsoft.com/office/drawing/2014/main" id="{F3AE9A4E-6F43-4FC7-034A-4C1FC1D54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0" y="238050"/>
            <a:ext cx="3429000" cy="119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847E44-A5A5-4C41-1BF2-3F8442DC04F2}"/>
              </a:ext>
            </a:extLst>
          </p:cNvPr>
          <p:cNvSpPr txBox="1"/>
          <p:nvPr/>
        </p:nvSpPr>
        <p:spPr>
          <a:xfrm>
            <a:off x="990600" y="3042219"/>
            <a:ext cx="1592580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9499" lvl="1" indent="-659750" algn="just">
              <a:lnSpc>
                <a:spcPts val="7333"/>
              </a:lnSpc>
              <a:spcBef>
                <a:spcPct val="0"/>
              </a:spcBef>
              <a:buFont typeface="Arial"/>
              <a:buChar char="•"/>
            </a:pPr>
            <a:r>
              <a:rPr lang="en-US" sz="5250" dirty="0" err="1">
                <a:solidFill>
                  <a:srgbClr val="000000"/>
                </a:solidFill>
                <a:latin typeface="Abundant Harvest"/>
                <a:ea typeface="Abundant Harvest"/>
                <a:sym typeface="Abundant Harvest"/>
              </a:rPr>
              <a:t>Mecanum</a:t>
            </a:r>
            <a:r>
              <a:rPr lang="en-US" sz="5250" dirty="0">
                <a:solidFill>
                  <a:srgbClr val="000000"/>
                </a:solidFill>
                <a:latin typeface="Abundant Harvest"/>
                <a:ea typeface="Abundant Harvest"/>
                <a:sym typeface="Abundant Harvest"/>
              </a:rPr>
              <a:t> Wheels Inspired by Moon Landing Rovers</a:t>
            </a:r>
          </a:p>
          <a:p>
            <a:pPr marL="1319499" lvl="1" indent="-659750" algn="just">
              <a:lnSpc>
                <a:spcPts val="7333"/>
              </a:lnSpc>
              <a:spcBef>
                <a:spcPct val="0"/>
              </a:spcBef>
              <a:buFont typeface="Arial"/>
              <a:buChar char="•"/>
            </a:pPr>
            <a:r>
              <a:rPr lang="en-US" sz="5250" dirty="0">
                <a:solidFill>
                  <a:srgbClr val="000000"/>
                </a:solidFill>
                <a:latin typeface="Abundant Harvest"/>
                <a:ea typeface="Abundant Harvest"/>
                <a:sym typeface="Abundant Harvest"/>
              </a:rPr>
              <a:t>Industrial Applications: Warehouse Automation</a:t>
            </a:r>
          </a:p>
          <a:p>
            <a:pPr marL="1319499" lvl="1" indent="-659750" algn="just">
              <a:lnSpc>
                <a:spcPts val="7333"/>
              </a:lnSpc>
              <a:spcBef>
                <a:spcPct val="0"/>
              </a:spcBef>
              <a:buFont typeface="Arial"/>
              <a:buChar char="•"/>
            </a:pPr>
            <a:r>
              <a:rPr lang="en-US" sz="5250" dirty="0">
                <a:solidFill>
                  <a:srgbClr val="000000"/>
                </a:solidFill>
                <a:latin typeface="Abundant Harvest"/>
                <a:ea typeface="Abundant Harvest"/>
                <a:sym typeface="Abundant Harvest"/>
              </a:rPr>
              <a:t>Disaster Management: Search &amp; Rescue Missions</a:t>
            </a:r>
          </a:p>
          <a:p>
            <a:pPr marL="1319499" lvl="1" indent="-659750" algn="just">
              <a:lnSpc>
                <a:spcPts val="7333"/>
              </a:lnSpc>
              <a:spcBef>
                <a:spcPct val="0"/>
              </a:spcBef>
              <a:buFont typeface="Arial"/>
              <a:buChar char="•"/>
            </a:pPr>
            <a:r>
              <a:rPr lang="en-US" sz="5250" dirty="0">
                <a:solidFill>
                  <a:srgbClr val="000000"/>
                </a:solidFill>
                <a:latin typeface="Abundant Harvest"/>
                <a:ea typeface="Abundant Harvest"/>
                <a:sym typeface="Abundant Harvest"/>
              </a:rPr>
              <a:t>Space Exploration &amp; Adaptive Robotics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2793" y="2362200"/>
            <a:ext cx="15242414" cy="556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1446" lvl="1" indent="-645723" algn="just">
              <a:lnSpc>
                <a:spcPts val="7178"/>
              </a:lnSpc>
              <a:spcBef>
                <a:spcPct val="0"/>
              </a:spcBef>
              <a:buFont typeface="Arial"/>
              <a:buChar char="•"/>
            </a:pPr>
            <a:r>
              <a:rPr lang="en-US" sz="5981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SMORPHI IMAGINARY: Interactive Reconfigurable Robot Simulation</a:t>
            </a:r>
          </a:p>
          <a:p>
            <a:pPr marL="1291446" lvl="1" indent="-645723" algn="just">
              <a:lnSpc>
                <a:spcPts val="7178"/>
              </a:lnSpc>
              <a:spcBef>
                <a:spcPct val="0"/>
              </a:spcBef>
              <a:buFont typeface="Arial"/>
              <a:buChar char="•"/>
            </a:pPr>
            <a:r>
              <a:rPr lang="en-US" sz="5981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Hands-on Experience with Virtual Prototyping</a:t>
            </a:r>
          </a:p>
          <a:p>
            <a:pPr marL="1291446" lvl="1" indent="-645723" algn="just">
              <a:lnSpc>
                <a:spcPts val="7178"/>
              </a:lnSpc>
              <a:spcBef>
                <a:spcPct val="0"/>
              </a:spcBef>
              <a:buFont typeface="Arial"/>
              <a:buChar char="•"/>
            </a:pPr>
            <a:r>
              <a:rPr lang="en-US" sz="5981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Understand Motion Dynamics &amp; Control Strategies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22793" y="1028700"/>
            <a:ext cx="15401276" cy="844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1"/>
              </a:lnSpc>
              <a:spcBef>
                <a:spcPct val="0"/>
              </a:spcBef>
            </a:pPr>
            <a:r>
              <a:rPr lang="en-US" sz="5568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~ Experience Yourself in Simulation ~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299" y="2552700"/>
            <a:ext cx="16535400" cy="364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84439" lvl="1" indent="-642220" algn="just">
              <a:lnSpc>
                <a:spcPts val="7139"/>
              </a:lnSpc>
              <a:buFont typeface="Arial"/>
              <a:buChar char="•"/>
            </a:pPr>
            <a:r>
              <a:rPr lang="en-US" sz="5949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Smorphi Imaginary Hackathon Opportunities.</a:t>
            </a:r>
          </a:p>
          <a:p>
            <a:pPr marL="1284439" lvl="1" indent="-642220" algn="just">
              <a:lnSpc>
                <a:spcPts val="7139"/>
              </a:lnSpc>
              <a:buFont typeface="Arial"/>
              <a:buChar char="•"/>
            </a:pPr>
            <a:r>
              <a:rPr lang="en-US" sz="5949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Summer Workshop and Internship.</a:t>
            </a:r>
          </a:p>
          <a:p>
            <a:pPr marL="1284439" lvl="1" indent="-642220" algn="just">
              <a:lnSpc>
                <a:spcPts val="7139"/>
              </a:lnSpc>
              <a:buFont typeface="Arial"/>
              <a:buChar char="•"/>
            </a:pPr>
            <a:r>
              <a:rPr lang="en-US" sz="5949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Collaboration &amp; Research in Reconfigurable Robotics.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78410" y="647700"/>
            <a:ext cx="11931179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21"/>
              </a:lnSpc>
              <a:spcBef>
                <a:spcPct val="0"/>
              </a:spcBef>
            </a:pPr>
            <a:r>
              <a:rPr lang="en-US" sz="7100" dirty="0">
                <a:solidFill>
                  <a:srgbClr val="000000"/>
                </a:solidFill>
                <a:latin typeface="Versailles"/>
                <a:ea typeface="Versailles"/>
                <a:cs typeface="Versailles"/>
                <a:sym typeface="Versailles"/>
              </a:rPr>
              <a:t>~ Join the Movement ~</a:t>
            </a:r>
          </a:p>
        </p:txBody>
      </p:sp>
      <p:pic>
        <p:nvPicPr>
          <p:cNvPr id="4" name="Picture 2" descr="Sri Sri University - The Best of East and the Best of West">
            <a:extLst>
              <a:ext uri="{FF2B5EF4-FFF2-40B4-BE49-F238E27FC236}">
                <a16:creationId xmlns:a16="http://schemas.microsoft.com/office/drawing/2014/main" id="{BF391249-DF1C-9145-BA69-09A6263BF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0" y="238050"/>
            <a:ext cx="3429000" cy="119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8F9CE498-3606-0FEE-89F5-7BADB8B86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571500"/>
            <a:ext cx="14732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299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9F66E0-536C-6E7D-0ABA-9F8ABC901E91}"/>
              </a:ext>
            </a:extLst>
          </p:cNvPr>
          <p:cNvSpPr txBox="1"/>
          <p:nvPr/>
        </p:nvSpPr>
        <p:spPr>
          <a:xfrm>
            <a:off x="3200400" y="2019300"/>
            <a:ext cx="12192000" cy="830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2219" lvl="1" algn="just">
              <a:lnSpc>
                <a:spcPts val="7139"/>
              </a:lnSpc>
            </a:pPr>
            <a:r>
              <a:rPr lang="en-US" sz="3600" b="1" dirty="0">
                <a:solidFill>
                  <a:srgbClr val="000000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Join Us! Be a part of the next-gen robotic revolution!</a:t>
            </a:r>
          </a:p>
        </p:txBody>
      </p:sp>
      <p:pic>
        <p:nvPicPr>
          <p:cNvPr id="4" name="Picture 2" descr="Sri Sri University - The Best of East and the Best of West">
            <a:extLst>
              <a:ext uri="{FF2B5EF4-FFF2-40B4-BE49-F238E27FC236}">
                <a16:creationId xmlns:a16="http://schemas.microsoft.com/office/drawing/2014/main" id="{87591081-C524-C88B-59DE-0786087DB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0" y="238050"/>
            <a:ext cx="3429000" cy="119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2D6A92-8216-FD00-3B59-EB20B834A74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20000"/>
          </a:blip>
          <a:stretch>
            <a:fillRect/>
          </a:stretch>
        </p:blipFill>
        <p:spPr>
          <a:xfrm>
            <a:off x="3352800" y="2828141"/>
            <a:ext cx="11031238" cy="686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65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290</Words>
  <Application>Microsoft Office PowerPoint</Application>
  <PresentationFormat>Custom</PresentationFormat>
  <Paragraphs>44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Cambria</vt:lpstr>
      <vt:lpstr>Absolutely Sharp </vt:lpstr>
      <vt:lpstr>Versailles</vt:lpstr>
      <vt:lpstr>Batang</vt:lpstr>
      <vt:lpstr>Arial</vt:lpstr>
      <vt:lpstr>Abundant Harvest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Reconfigurable_Robots_Presentation.pptx</dc:title>
  <dc:creator>Gyana Ranjana Panigrahi</dc:creator>
  <cp:lastModifiedBy>Gyana Ranjana Panigrahi</cp:lastModifiedBy>
  <cp:revision>2</cp:revision>
  <dcterms:created xsi:type="dcterms:W3CDTF">2006-08-16T00:00:00Z</dcterms:created>
  <dcterms:modified xsi:type="dcterms:W3CDTF">2025-02-19T17:33:49Z</dcterms:modified>
  <dc:identifier>DAGfYnb4rTk</dc:identifier>
</cp:coreProperties>
</file>